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mfortaa SemiBold"/>
      <p:regular r:id="rId20"/>
      <p:bold r:id="rId21"/>
    </p:embeddedFont>
    <p:embeddedFont>
      <p:font typeface="Lexend ExtraBold"/>
      <p:bold r:id="rId22"/>
    </p:embeddedFont>
    <p:embeddedFont>
      <p:font typeface="Great Vibes"/>
      <p:regular r:id="rId23"/>
    </p:embeddedFont>
    <p:embeddedFont>
      <p:font typeface="Exo 2 Medium"/>
      <p:regular r:id="rId24"/>
      <p:bold r:id="rId25"/>
      <p:italic r:id="rId26"/>
      <p:boldItalic r:id="rId27"/>
    </p:embeddedFont>
    <p:embeddedFont>
      <p:font typeface="Lexend Medium"/>
      <p:regular r:id="rId28"/>
      <p:bold r:id="rId29"/>
    </p:embeddedFont>
    <p:embeddedFont>
      <p:font typeface="Exo 2"/>
      <p:regular r:id="rId30"/>
      <p:bold r:id="rId31"/>
      <p:italic r:id="rId32"/>
      <p:boldItalic r:id="rId33"/>
    </p:embeddedFont>
    <p:embeddedFont>
      <p:font typeface="Lexend"/>
      <p:regular r:id="rId34"/>
      <p:bold r:id="rId35"/>
    </p:embeddedFont>
    <p:embeddedFont>
      <p:font typeface="Comfortaa Medium"/>
      <p:regular r:id="rId36"/>
      <p:bold r:id="rId37"/>
    </p:embeddedFont>
    <p:embeddedFont>
      <p:font typeface="Lexend SemiBold"/>
      <p:regular r:id="rId38"/>
      <p:bold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Exo 2 SemiBold"/>
      <p:regular r:id="rId44"/>
      <p:bold r:id="rId45"/>
      <p:italic r:id="rId46"/>
      <p:boldItalic r:id="rId47"/>
    </p:embeddedFont>
    <p:embeddedFont>
      <p:font typeface="Comfortaa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Exo2SemiBold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Exo2SemiBold-italic.fntdata"/><Relationship Id="rId45" Type="http://schemas.openxmlformats.org/officeDocument/2006/relationships/font" Target="fonts/Exo2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mfortaa-regular.fntdata"/><Relationship Id="rId47" Type="http://schemas.openxmlformats.org/officeDocument/2006/relationships/font" Target="fonts/Exo2SemiBold-boldItalic.fntdata"/><Relationship Id="rId49" Type="http://schemas.openxmlformats.org/officeDocument/2006/relationships/font" Target="fonts/Comforta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xo2-bold.fntdata"/><Relationship Id="rId30" Type="http://schemas.openxmlformats.org/officeDocument/2006/relationships/font" Target="fonts/Exo2-regular.fntdata"/><Relationship Id="rId33" Type="http://schemas.openxmlformats.org/officeDocument/2006/relationships/font" Target="fonts/Exo2-boldItalic.fntdata"/><Relationship Id="rId32" Type="http://schemas.openxmlformats.org/officeDocument/2006/relationships/font" Target="fonts/Exo2-italic.fntdata"/><Relationship Id="rId35" Type="http://schemas.openxmlformats.org/officeDocument/2006/relationships/font" Target="fonts/Lexend-bold.fntdata"/><Relationship Id="rId34" Type="http://schemas.openxmlformats.org/officeDocument/2006/relationships/font" Target="fonts/Lexend-regular.fntdata"/><Relationship Id="rId37" Type="http://schemas.openxmlformats.org/officeDocument/2006/relationships/font" Target="fonts/ComfortaaMedium-bold.fntdata"/><Relationship Id="rId36" Type="http://schemas.openxmlformats.org/officeDocument/2006/relationships/font" Target="fonts/ComfortaaMedium-regular.fntdata"/><Relationship Id="rId39" Type="http://schemas.openxmlformats.org/officeDocument/2006/relationships/font" Target="fonts/LexendSemiBold-bold.fntdata"/><Relationship Id="rId38" Type="http://schemas.openxmlformats.org/officeDocument/2006/relationships/font" Target="fonts/LexendSemiBold-regular.fntdata"/><Relationship Id="rId20" Type="http://schemas.openxmlformats.org/officeDocument/2006/relationships/font" Target="fonts/ComfortaaSemiBold-regular.fntdata"/><Relationship Id="rId22" Type="http://schemas.openxmlformats.org/officeDocument/2006/relationships/font" Target="fonts/LexendExtraBold-bold.fntdata"/><Relationship Id="rId21" Type="http://schemas.openxmlformats.org/officeDocument/2006/relationships/font" Target="fonts/ComfortaaSemiBold-bold.fntdata"/><Relationship Id="rId24" Type="http://schemas.openxmlformats.org/officeDocument/2006/relationships/font" Target="fonts/Exo2Medium-regular.fntdata"/><Relationship Id="rId23" Type="http://schemas.openxmlformats.org/officeDocument/2006/relationships/font" Target="fonts/GreatVibes-regular.fntdata"/><Relationship Id="rId26" Type="http://schemas.openxmlformats.org/officeDocument/2006/relationships/font" Target="fonts/Exo2Medium-italic.fntdata"/><Relationship Id="rId25" Type="http://schemas.openxmlformats.org/officeDocument/2006/relationships/font" Target="fonts/Exo2Medium-bold.fntdata"/><Relationship Id="rId28" Type="http://schemas.openxmlformats.org/officeDocument/2006/relationships/font" Target="fonts/LexendMedium-regular.fntdata"/><Relationship Id="rId27" Type="http://schemas.openxmlformats.org/officeDocument/2006/relationships/font" Target="fonts/Exo2Medium-boldItalic.fntdata"/><Relationship Id="rId29" Type="http://schemas.openxmlformats.org/officeDocument/2006/relationships/font" Target="fonts/Lexend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9090756a_1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9090756a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933c8c4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933c8c4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ec6fdf89c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ec6fdf89c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6ec6fdf89c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6ec6fdf89c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6ec6fdf89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6ec6fdf89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6ec6fdf89c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6ec6fdf89c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6ec6fdf89c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6ec6fdf89c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ec6fdf89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ec6fdf89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6ec6fdf89c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6ec6fdf89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ec6fdf89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ec6fdf89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6ec6fdf89c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6ec6fdf89c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jpg"/><Relationship Id="rId5" Type="http://schemas.openxmlformats.org/officeDocument/2006/relationships/image" Target="../media/image11.jpg"/><Relationship Id="rId6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499550" y="1717050"/>
            <a:ext cx="61449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72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Welcome </a:t>
            </a:r>
            <a:r>
              <a:rPr b="1" lang="en" sz="472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Everyone!</a:t>
            </a:r>
            <a:endParaRPr b="1" sz="472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3450875" y="2755175"/>
            <a:ext cx="357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</a:t>
            </a: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325" y="2827525"/>
            <a:ext cx="409375" cy="409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57450" y="25977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457200" y="457200"/>
            <a:ext cx="1499700" cy="165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57450" y="65462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61925" y="933850"/>
            <a:ext cx="5523900" cy="337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000000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A PROJECT ON</a:t>
            </a:r>
            <a:endParaRPr sz="4800">
              <a:solidFill>
                <a:srgbClr val="000000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2"/>
                </a:solidFill>
                <a:latin typeface="Exo 2 SemiBold"/>
                <a:ea typeface="Exo 2 SemiBold"/>
                <a:cs typeface="Exo 2 SemiBold"/>
                <a:sym typeface="Exo 2 SemiBold"/>
              </a:rPr>
              <a:t>DevSearch</a:t>
            </a:r>
            <a:endParaRPr sz="4800">
              <a:solidFill>
                <a:schemeClr val="accent2"/>
              </a:solidFill>
              <a:latin typeface="Exo 2 SemiBold"/>
              <a:ea typeface="Exo 2 SemiBold"/>
              <a:cs typeface="Exo 2 SemiBold"/>
              <a:sym typeface="Exo 2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3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 </a:t>
            </a:r>
            <a:r>
              <a:rPr lang="en" sz="2033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developer</a:t>
            </a:r>
            <a:r>
              <a:rPr lang="en" sz="2033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hunting platform</a:t>
            </a:r>
            <a:endParaRPr sz="2033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157450" y="25977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57200" y="457200"/>
            <a:ext cx="1499700" cy="165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157450" y="65462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3276" y="2508830"/>
            <a:ext cx="4147099" cy="1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/>
          <p:nvPr/>
        </p:nvSpPr>
        <p:spPr>
          <a:xfrm>
            <a:off x="-8550" y="-39350"/>
            <a:ext cx="9161100" cy="248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 txBox="1"/>
          <p:nvPr>
            <p:ph idx="4294967295" type="title"/>
          </p:nvPr>
        </p:nvSpPr>
        <p:spPr>
          <a:xfrm>
            <a:off x="2071050" y="645150"/>
            <a:ext cx="5001900" cy="10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4000">
                <a:latin typeface="Lexend ExtraBold"/>
                <a:ea typeface="Lexend ExtraBold"/>
                <a:cs typeface="Lexend ExtraBold"/>
                <a:sym typeface="Lexend ExtraBold"/>
              </a:rPr>
              <a:t>MEET THE TEAM</a:t>
            </a:r>
            <a:endParaRPr i="1" sz="2400"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94" name="Google Shape;94;p15"/>
          <p:cNvSpPr txBox="1"/>
          <p:nvPr>
            <p:ph idx="4294967295" type="title"/>
          </p:nvPr>
        </p:nvSpPr>
        <p:spPr>
          <a:xfrm>
            <a:off x="1949338" y="3329175"/>
            <a:ext cx="19095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Md. Rayhan Kabir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ID:42230301147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Program: ECSE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Section: C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5" name="Google Shape;95;p15"/>
          <p:cNvSpPr txBox="1"/>
          <p:nvPr>
            <p:ph idx="4294967295" type="title"/>
          </p:nvPr>
        </p:nvSpPr>
        <p:spPr>
          <a:xfrm>
            <a:off x="3659463" y="3306150"/>
            <a:ext cx="19095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Joy Chandro Debnath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ID:42230301130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Program: ECSE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Section: C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6" name="Google Shape;96;p15"/>
          <p:cNvSpPr txBox="1"/>
          <p:nvPr>
            <p:ph idx="4294967295" type="title"/>
          </p:nvPr>
        </p:nvSpPr>
        <p:spPr>
          <a:xfrm>
            <a:off x="5435288" y="3329175"/>
            <a:ext cx="19095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MD Fahruzzaman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ID:42230301123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Program: ECSE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Section: C</a:t>
            </a:r>
            <a:endParaRPr sz="10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3383184" y="4475000"/>
            <a:ext cx="29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425" y="4589253"/>
            <a:ext cx="340172" cy="325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9200" y="1713850"/>
            <a:ext cx="1441200" cy="144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 rotWithShape="1">
          <a:blip r:embed="rId5">
            <a:alphaModFix/>
          </a:blip>
          <a:srcRect b="26186" l="24423" r="18243" t="30813"/>
          <a:stretch/>
        </p:blipFill>
        <p:spPr>
          <a:xfrm>
            <a:off x="3659463" y="1713848"/>
            <a:ext cx="1441200" cy="14412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6">
            <a:alphaModFix/>
          </a:blip>
          <a:srcRect b="15553" l="0" r="0" t="3099"/>
          <a:stretch/>
        </p:blipFill>
        <p:spPr>
          <a:xfrm>
            <a:off x="5355125" y="1713850"/>
            <a:ext cx="1441200" cy="1441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71900" y="738725"/>
            <a:ext cx="22047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 SemiBold"/>
                <a:ea typeface="Lexend SemiBold"/>
                <a:cs typeface="Lexend SemiBold"/>
                <a:sym typeface="Lexend SemiBold"/>
              </a:rPr>
              <a:t>AGENDAS</a:t>
            </a:r>
            <a:endParaRPr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220000" y="167413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Introduction on the project.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Objectives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Features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Tools &amp; Technology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Flowchart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Outputs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Conclusion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●"/>
            </a:pPr>
            <a:r>
              <a:rPr lang="en" sz="1800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Acknowledgement</a:t>
            </a:r>
            <a:endParaRPr sz="1800">
              <a:solidFill>
                <a:srgbClr val="000000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495534" y="4455500"/>
            <a:ext cx="297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0825" y="4589253"/>
            <a:ext cx="340172" cy="32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325" y="1950087"/>
            <a:ext cx="1799276" cy="21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281150" y="1928075"/>
            <a:ext cx="2808000" cy="11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Introduction on the project.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3458600" y="1982525"/>
            <a:ext cx="5581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1F1F1F"/>
                </a:solidFill>
                <a:latin typeface="Lexend"/>
                <a:ea typeface="Lexend"/>
                <a:cs typeface="Lexend"/>
                <a:sym typeface="Lexend"/>
              </a:rPr>
              <a:t>DevSearch</a:t>
            </a:r>
            <a:r>
              <a:rPr lang="en" sz="1200">
                <a:solidFill>
                  <a:srgbClr val="1F1F1F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a web-based platform designed to connect developers with potential employers. It aims to streamline the hiring process for both parties by providing a centralized platform for talent discovery and job posting.</a:t>
            </a:r>
            <a:endParaRPr sz="1500">
              <a:solidFill>
                <a:schemeClr val="lt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414950" y="2369450"/>
            <a:ext cx="2808000" cy="61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Objectives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3369225" y="1108925"/>
            <a:ext cx="55812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b="1" lang="en" sz="150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Connect Developers Worldwide:</a:t>
            </a: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 Create a space where developers from various backgrounds can interact.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b="1" lang="en" sz="150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Promote Collaboration:</a:t>
            </a: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 Enable teamwork by sharing projects, code snippets, and ideas.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b="1" lang="en" sz="150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Enhance Learning:</a:t>
            </a: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Provide access to resources, tutorials, and discussions to support continuous learning.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b="1" lang="en" sz="150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Career Growth:</a:t>
            </a: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 Facilitate job opportunities and mentorship programs for developers.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b="1" lang="en" sz="150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Showcase Skills:</a:t>
            </a: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 Allow users to display their portfolios, repositories, and achievements.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666850" y="2441025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Features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3424300" y="1049925"/>
            <a:ext cx="55812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User Registration &amp; Authentication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Developer Profiles with Skill &amp; Preference Filtering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 Creation, Editing, and Deletion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Advanced Project Search with Multiple Filters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Messaging System between Users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Commenting System on Projects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Account Verification System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Password Reset Functionality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Basic User Management (Admin Dashboard)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User Profile Verification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516425" y="1966175"/>
            <a:ext cx="3230700" cy="95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Tools &amp; Technology 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51" name="Google Shape;15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3816800" y="1620775"/>
            <a:ext cx="4974900" cy="19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Backend: Django (Python)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Database: SQLite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Frontend: HTML, CSS (with potential integration of a CSS framework Bootstrap)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Lexend Medium"/>
              <a:buChar char="●"/>
            </a:pPr>
            <a:r>
              <a:rPr lang="en" sz="1500">
                <a:solidFill>
                  <a:srgbClr val="0D0D0D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Frontend Templates: Based on Figma</a:t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690475" y="2565900"/>
            <a:ext cx="2808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Flowchart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3440025" y="2104200"/>
            <a:ext cx="558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solidFill>
                <a:srgbClr val="0D0D0D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200" y="1011125"/>
            <a:ext cx="5792850" cy="342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761300" y="2571750"/>
            <a:ext cx="28080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Outputs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9300" y="1461325"/>
            <a:ext cx="5269899" cy="263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761300" y="2571750"/>
            <a:ext cx="28080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Comfortaa"/>
                <a:ea typeface="Comfortaa"/>
                <a:cs typeface="Comfortaa"/>
                <a:sym typeface="Comfortaa"/>
              </a:rPr>
              <a:t>Conclusion</a:t>
            </a:r>
            <a:endParaRPr b="1" sz="2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3686900" y="1855950"/>
            <a:ext cx="5352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DevSearch aims to bridge the gap between developers by providing a comprehensive platform for networking, learning, and growth. By integrating essential features with user-friendly tools, DevSearch has the potential to become the go-to platform for the global developer community.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3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196775" y="2280350"/>
            <a:ext cx="3219600" cy="5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320">
                <a:latin typeface="Comfortaa"/>
                <a:ea typeface="Comfortaa"/>
                <a:cs typeface="Comfortaa"/>
                <a:sym typeface="Comfortaa"/>
              </a:rPr>
              <a:t>Acknowledgement</a:t>
            </a:r>
            <a:endParaRPr b="1" sz="23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3651350" y="1267400"/>
            <a:ext cx="5305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We would like to express our sincere gratitude to our teacher, </a:t>
            </a: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Rumman Ahmed Prodhan Sir</a:t>
            </a: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 who gave us the golden opportunity to do this wonderful project,</a:t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which also helped us in doing a lot of Research and we came to know</a:t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about so many new things. we are really thankful. </a:t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Thank you so much, Sir.</a:t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 Medium"/>
                <a:ea typeface="Lexend Medium"/>
                <a:cs typeface="Lexend Medium"/>
                <a:sym typeface="Lexend Medium"/>
              </a:rPr>
              <a:t>Syntax Error.</a:t>
            </a:r>
            <a:endParaRPr sz="15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/>
          <p:nvPr/>
        </p:nvSpPr>
        <p:spPr>
          <a:xfrm>
            <a:off x="4722500" y="3158875"/>
            <a:ext cx="1499700" cy="3141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6359390" y="118100"/>
            <a:ext cx="278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202" name="Google Shape;20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4975" y="249803"/>
            <a:ext cx="318549" cy="31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5"/>
          <p:cNvSpPr txBox="1"/>
          <p:nvPr/>
        </p:nvSpPr>
        <p:spPr>
          <a:xfrm>
            <a:off x="4052300" y="1511975"/>
            <a:ext cx="4503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Exo 2 Medium"/>
                <a:ea typeface="Exo 2 Medium"/>
                <a:cs typeface="Exo 2 Medium"/>
                <a:sym typeface="Exo 2 Medium"/>
              </a:rPr>
              <a:t>DO YOU HAVE ANY QUESTION ?</a:t>
            </a:r>
            <a:endParaRPr sz="2300">
              <a:latin typeface="Exo 2 Medium"/>
              <a:ea typeface="Exo 2 Medium"/>
              <a:cs typeface="Exo 2 Medium"/>
              <a:sym typeface="Exo 2 Medium"/>
            </a:endParaRPr>
          </a:p>
        </p:txBody>
      </p:sp>
      <p:pic>
        <p:nvPicPr>
          <p:cNvPr id="204" name="Google Shape;2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725" y="330325"/>
            <a:ext cx="2087400" cy="109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5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4722500" y="3046525"/>
            <a:ext cx="2784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Feel Free</a:t>
            </a:r>
            <a:r>
              <a:rPr b="1" lang="en" sz="2300">
                <a:latin typeface="Lexend"/>
                <a:ea typeface="Lexend"/>
                <a:cs typeface="Lexend"/>
                <a:sym typeface="Lexend"/>
              </a:rPr>
              <a:t> To ASK! </a:t>
            </a:r>
            <a:endParaRPr b="1" sz="2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07100" y="3126475"/>
            <a:ext cx="378900" cy="3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375" y="1381225"/>
            <a:ext cx="1813756" cy="34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ctrTitle"/>
          </p:nvPr>
        </p:nvSpPr>
        <p:spPr>
          <a:xfrm>
            <a:off x="1070575" y="1717050"/>
            <a:ext cx="74232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72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Thank You</a:t>
            </a:r>
            <a:r>
              <a:rPr b="1" lang="en" sz="472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4720">
                <a:solidFill>
                  <a:srgbClr val="0D0D0D"/>
                </a:solidFill>
                <a:latin typeface="Lexend"/>
                <a:ea typeface="Lexend"/>
                <a:cs typeface="Lexend"/>
                <a:sym typeface="Lexend"/>
              </a:rPr>
              <a:t>Everyone!</a:t>
            </a:r>
            <a:endParaRPr b="1" sz="4720">
              <a:solidFill>
                <a:srgbClr val="0D0D0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2920425" y="2739450"/>
            <a:ext cx="357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Lexend ExtraBold"/>
                <a:ea typeface="Lexend ExtraBold"/>
                <a:cs typeface="Lexend ExtraBold"/>
                <a:sym typeface="Lexend ExtraBold"/>
              </a:rPr>
              <a:t> SYNTAX </a:t>
            </a:r>
            <a:r>
              <a:rPr lang="en" sz="2400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ERROR</a:t>
            </a:r>
            <a:endParaRPr sz="2400">
              <a:solidFill>
                <a:schemeClr val="accent2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4875" y="2811800"/>
            <a:ext cx="409375" cy="40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/>
          <p:nvPr/>
        </p:nvSpPr>
        <p:spPr>
          <a:xfrm>
            <a:off x="157450" y="25977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457200" y="457200"/>
            <a:ext cx="1499700" cy="165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157450" y="654625"/>
            <a:ext cx="1499700" cy="1653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8234000" y="4551150"/>
            <a:ext cx="519600" cy="5196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8520200" y="4551150"/>
            <a:ext cx="519600" cy="5196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2410725" y="4655250"/>
            <a:ext cx="3756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Great Vibes"/>
                <a:ea typeface="Great Vibes"/>
                <a:cs typeface="Great Vibes"/>
                <a:sym typeface="Great Vibes"/>
              </a:rPr>
              <a:t>“</a:t>
            </a:r>
            <a:r>
              <a:rPr lang="en" sz="1500">
                <a:latin typeface="Great Vibes"/>
                <a:ea typeface="Great Vibes"/>
                <a:cs typeface="Great Vibes"/>
                <a:sym typeface="Great Vibes"/>
              </a:rPr>
              <a:t>Always</a:t>
            </a:r>
            <a:r>
              <a:rPr lang="en" sz="1500">
                <a:latin typeface="Great Vibes"/>
                <a:ea typeface="Great Vibes"/>
                <a:cs typeface="Great Vibes"/>
                <a:sym typeface="Great Vibes"/>
              </a:rPr>
              <a:t> smile </a:t>
            </a:r>
            <a:r>
              <a:rPr lang="en" sz="1500">
                <a:latin typeface="Great Vibes"/>
                <a:ea typeface="Great Vibes"/>
                <a:cs typeface="Great Vibes"/>
                <a:sym typeface="Great Vibes"/>
              </a:rPr>
              <a:t>and say Alhamdulillah!” - Rayhan Kabir</a:t>
            </a:r>
            <a:endParaRPr sz="1500">
              <a:latin typeface="Great Vibes"/>
              <a:ea typeface="Great Vibes"/>
              <a:cs typeface="Great Vibes"/>
              <a:sym typeface="Great Vib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